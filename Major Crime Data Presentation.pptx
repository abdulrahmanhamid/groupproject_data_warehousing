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Average" panose="020B0604020202020204" charset="0"/>
      <p:regular r:id="rId16"/>
    </p:embeddedFont>
    <p:embeddedFont>
      <p:font typeface="Oswald" panose="00000500000000000000" pitchFamily="2"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742" y="269"/>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ad891eee04_0_3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ad891eee04_0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d891eee04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d891eee04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ad891eee04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ad891eee04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ad891eee04_0_3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ad891eee04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Cleaning the Tables </a:t>
            </a:r>
            <a:endParaRPr/>
          </a:p>
          <a:p>
            <a:pPr marL="0" lvl="0" indent="0" algn="l" rtl="0">
              <a:spcBef>
                <a:spcPts val="0"/>
              </a:spcBef>
              <a:spcAft>
                <a:spcPts val="0"/>
              </a:spcAft>
              <a:buNone/>
            </a:pPr>
            <a:r>
              <a:rPr lang="en-GB"/>
              <a:t>Before modeling the data, we must first remove any unnecessary or missing values apart of our data set to keep it consistent.  With the follow methods were apply to our data set.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ad891eee04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ad891eee04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Cleaning the Tables </a:t>
            </a:r>
            <a:endParaRPr/>
          </a:p>
          <a:p>
            <a:pPr marL="0" lvl="0" indent="0" algn="l" rtl="0">
              <a:spcBef>
                <a:spcPts val="0"/>
              </a:spcBef>
              <a:spcAft>
                <a:spcPts val="0"/>
              </a:spcAft>
              <a:buNone/>
            </a:pPr>
            <a:r>
              <a:rPr lang="en-GB"/>
              <a:t>Before modeling the data, we must first remove any unnecessary or missing values apart of our data set to keep it consistent.  With the follow methods were apply to our data set.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d891eee04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d891eee04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d891eee04_0_3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ad891eee04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deb6d81f4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adeb6d81f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deb6d81f4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deb6d81f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deb6d81f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deb6d81f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To show the exact state where the model begins to get confused.</a:t>
            </a:r>
            <a:endParaRPr/>
          </a:p>
          <a:p>
            <a:pPr marL="457200" lvl="0" indent="-298450" algn="l" rtl="0">
              <a:spcBef>
                <a:spcPts val="0"/>
              </a:spcBef>
              <a:spcAft>
                <a:spcPts val="0"/>
              </a:spcAft>
              <a:buSzPts val="1100"/>
              <a:buChar char="-"/>
            </a:pPr>
            <a:r>
              <a:rPr lang="en-GB"/>
              <a:t>Predicts well, sometimes confused Break an Entry with Assault</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adeb6d81f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adeb6d81f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f7fad017b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af7fad017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d891eee04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d891eee0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latin typeface="Arial"/>
                <a:ea typeface="Arial"/>
                <a:cs typeface="Arial"/>
                <a:sym typeface="Arial"/>
              </a:rPr>
              <a:t>Predictive Model for </a:t>
            </a:r>
            <a:endParaRPr>
              <a:latin typeface="Arial"/>
              <a:ea typeface="Arial"/>
              <a:cs typeface="Arial"/>
              <a:sym typeface="Arial"/>
            </a:endParaRPr>
          </a:p>
          <a:p>
            <a:pPr marL="0" lvl="0" indent="0" algn="ctr" rtl="0">
              <a:spcBef>
                <a:spcPts val="0"/>
              </a:spcBef>
              <a:spcAft>
                <a:spcPts val="0"/>
              </a:spcAft>
              <a:buNone/>
            </a:pPr>
            <a:r>
              <a:rPr lang="en-GB">
                <a:latin typeface="Arial"/>
                <a:ea typeface="Arial"/>
                <a:cs typeface="Arial"/>
                <a:sym typeface="Arial"/>
              </a:rPr>
              <a:t>Major Crimes in Toronto</a:t>
            </a:r>
            <a:endParaRPr>
              <a:latin typeface="Arial"/>
              <a:ea typeface="Arial"/>
              <a:cs typeface="Arial"/>
              <a:sym typeface="Arial"/>
            </a:endParaRPr>
          </a:p>
        </p:txBody>
      </p:sp>
      <p:sp>
        <p:nvSpPr>
          <p:cNvPr id="60" name="Google Shape;60;p13"/>
          <p:cNvSpPr txBox="1">
            <a:spLocks noGrp="1"/>
          </p:cNvSpPr>
          <p:nvPr>
            <p:ph type="subTitle" idx="1"/>
          </p:nvPr>
        </p:nvSpPr>
        <p:spPr>
          <a:xfrm>
            <a:off x="768800" y="3015276"/>
            <a:ext cx="7801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latin typeface="Arial"/>
                <a:ea typeface="Arial"/>
                <a:cs typeface="Arial"/>
                <a:sym typeface="Arial"/>
              </a:rPr>
              <a:t>Abdulrahman H, Ethan A, Ethan M, Larry Y, Munachimso E</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Average"/>
                <a:ea typeface="Average"/>
                <a:cs typeface="Average"/>
                <a:sym typeface="Average"/>
              </a:rPr>
              <a:t>WHAT OUR DATA IS</a:t>
            </a:r>
            <a:endParaRPr>
              <a:latin typeface="Average"/>
              <a:ea typeface="Average"/>
              <a:cs typeface="Average"/>
              <a:sym typeface="Average"/>
            </a:endParaRPr>
          </a:p>
        </p:txBody>
      </p:sp>
      <p:sp>
        <p:nvSpPr>
          <p:cNvPr id="66" name="Google Shape;66;p14"/>
          <p:cNvSpPr txBox="1">
            <a:spLocks noGrp="1"/>
          </p:cNvSpPr>
          <p:nvPr>
            <p:ph type="body" idx="1"/>
          </p:nvPr>
        </p:nvSpPr>
        <p:spPr>
          <a:xfrm>
            <a:off x="311700" y="1152475"/>
            <a:ext cx="5670900" cy="361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solidFill>
                  <a:schemeClr val="dk1"/>
                </a:solidFill>
              </a:rPr>
              <a:t>Source: Toronto Police Service “Major Crime Indicators” open dataset, police-reported incidents across all 158 neighbourhoods in Toronto.</a:t>
            </a:r>
            <a:endParaRPr sz="1200">
              <a:solidFill>
                <a:schemeClr val="dk1"/>
              </a:solidFill>
            </a:endParaRPr>
          </a:p>
          <a:p>
            <a:pPr marL="0" lvl="0" indent="0" algn="l" rtl="0">
              <a:spcBef>
                <a:spcPts val="1200"/>
              </a:spcBef>
              <a:spcAft>
                <a:spcPts val="0"/>
              </a:spcAft>
              <a:buNone/>
            </a:pPr>
            <a:r>
              <a:rPr lang="en-GB" sz="1200">
                <a:solidFill>
                  <a:schemeClr val="dk1"/>
                </a:solidFill>
              </a:rPr>
              <a:t>Size: We started with about 452,949 crime records and, after cleaning missing values, removing “NSA” locations and duplicates, we used 388,111 rows for modeling.</a:t>
            </a:r>
            <a:endParaRPr sz="1200">
              <a:solidFill>
                <a:schemeClr val="dk1"/>
              </a:solidFill>
            </a:endParaRPr>
          </a:p>
          <a:p>
            <a:pPr marL="0" lvl="0" indent="0" algn="l" rtl="0">
              <a:spcBef>
                <a:spcPts val="1200"/>
              </a:spcBef>
              <a:spcAft>
                <a:spcPts val="0"/>
              </a:spcAft>
              <a:buNone/>
            </a:pPr>
            <a:r>
              <a:rPr lang="en-GB" sz="1200">
                <a:solidFill>
                  <a:schemeClr val="dk1"/>
                </a:solidFill>
              </a:rPr>
              <a:t>Time &amp; Location: Each row has when and where the crime happened (occurrence year, month, day of week, hour, division, neighborhood, and coordinates).</a:t>
            </a:r>
            <a:endParaRPr sz="1200">
              <a:solidFill>
                <a:schemeClr val="dk1"/>
              </a:solidFill>
            </a:endParaRPr>
          </a:p>
          <a:p>
            <a:pPr marL="0" lvl="0" indent="0" algn="l" rtl="0">
              <a:spcBef>
                <a:spcPts val="1200"/>
              </a:spcBef>
              <a:spcAft>
                <a:spcPts val="1200"/>
              </a:spcAft>
              <a:buNone/>
            </a:pPr>
            <a:r>
              <a:rPr lang="en-GB" sz="1200">
                <a:solidFill>
                  <a:schemeClr val="dk1"/>
                </a:solidFill>
              </a:rPr>
              <a:t>Target: We predict MCI_CATEGORY, one of five major crime types (e.x; Assault, Robbery, Auto Theft) based on these temporal and spatial features.</a:t>
            </a:r>
            <a:endParaRPr sz="1200">
              <a:solidFill>
                <a:schemeClr val="dk1"/>
              </a:solidFill>
            </a:endParaRPr>
          </a:p>
        </p:txBody>
      </p:sp>
      <p:pic>
        <p:nvPicPr>
          <p:cNvPr id="67" name="Google Shape;67;p14"/>
          <p:cNvPicPr preferRelativeResize="0"/>
          <p:nvPr/>
        </p:nvPicPr>
        <p:blipFill>
          <a:blip r:embed="rId3">
            <a:alphaModFix/>
          </a:blip>
          <a:stretch>
            <a:fillRect/>
          </a:stretch>
        </p:blipFill>
        <p:spPr>
          <a:xfrm>
            <a:off x="5982600" y="1143458"/>
            <a:ext cx="2856600" cy="2856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Arial"/>
                <a:ea typeface="Arial"/>
                <a:cs typeface="Arial"/>
                <a:sym typeface="Arial"/>
              </a:rPr>
              <a:t>THE PROBLEM &amp; OUR SOLUTION</a:t>
            </a:r>
            <a:endParaRPr>
              <a:latin typeface="Arial"/>
              <a:ea typeface="Arial"/>
              <a:cs typeface="Arial"/>
              <a:sym typeface="Arial"/>
            </a:endParaRPr>
          </a:p>
        </p:txBody>
      </p:sp>
      <p:sp>
        <p:nvSpPr>
          <p:cNvPr id="73" name="Google Shape;73;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lnSpc>
                <a:spcPct val="100000"/>
              </a:lnSpc>
              <a:spcBef>
                <a:spcPts val="0"/>
              </a:spcBef>
              <a:spcAft>
                <a:spcPts val="0"/>
              </a:spcAft>
              <a:buNone/>
            </a:pPr>
            <a:r>
              <a:rPr lang="en-GB" b="1">
                <a:solidFill>
                  <a:schemeClr val="dk1"/>
                </a:solidFill>
                <a:latin typeface="Arial"/>
                <a:ea typeface="Arial"/>
                <a:cs typeface="Arial"/>
                <a:sym typeface="Arial"/>
              </a:rPr>
              <a:t>Problem:</a:t>
            </a:r>
            <a:br>
              <a:rPr lang="en-GB">
                <a:latin typeface="Arial"/>
                <a:ea typeface="Arial"/>
                <a:cs typeface="Arial"/>
                <a:sym typeface="Arial"/>
              </a:rPr>
            </a:br>
            <a:r>
              <a:rPr lang="en-GB" sz="1200">
                <a:solidFill>
                  <a:schemeClr val="dk1"/>
                </a:solidFill>
                <a:latin typeface="Arial"/>
                <a:ea typeface="Arial"/>
                <a:cs typeface="Arial"/>
                <a:sym typeface="Arial"/>
              </a:rPr>
              <a:t>Toronto has hundreds of thousands of reported major crime incidents spread across roughly 158 neighbourhoods with changing patterns year after year</a:t>
            </a:r>
            <a:endParaRPr sz="1200">
              <a:solidFill>
                <a:schemeClr val="dk1"/>
              </a:solidFill>
              <a:latin typeface="Arial"/>
              <a:ea typeface="Arial"/>
              <a:cs typeface="Arial"/>
              <a:sym typeface="Arial"/>
            </a:endParaRPr>
          </a:p>
          <a:p>
            <a:pPr marL="0" lvl="0" indent="0" algn="l" rtl="0">
              <a:lnSpc>
                <a:spcPct val="100000"/>
              </a:lnSpc>
              <a:spcBef>
                <a:spcPts val="1200"/>
              </a:spcBef>
              <a:spcAft>
                <a:spcPts val="0"/>
              </a:spcAft>
              <a:buNone/>
            </a:pPr>
            <a:r>
              <a:rPr lang="en-GB" sz="1200">
                <a:solidFill>
                  <a:schemeClr val="dk1"/>
                </a:solidFill>
                <a:latin typeface="Arial"/>
                <a:ea typeface="Arial"/>
                <a:cs typeface="Arial"/>
                <a:sym typeface="Arial"/>
              </a:rPr>
              <a:t>Police data is mostly descriptive and not predictive, thus it’s hard to know which major crime is most likely to occur and to proactively allocate resources and police</a:t>
            </a:r>
            <a:endParaRPr sz="1200">
              <a:solidFill>
                <a:schemeClr val="dk1"/>
              </a:solidFill>
              <a:latin typeface="Arial"/>
              <a:ea typeface="Arial"/>
              <a:cs typeface="Arial"/>
              <a:sym typeface="Arial"/>
            </a:endParaRPr>
          </a:p>
          <a:p>
            <a:pPr marL="0" lvl="0" indent="0" algn="l" rtl="0">
              <a:lnSpc>
                <a:spcPct val="100000"/>
              </a:lnSpc>
              <a:spcBef>
                <a:spcPts val="1200"/>
              </a:spcBef>
              <a:spcAft>
                <a:spcPts val="0"/>
              </a:spcAft>
              <a:buNone/>
            </a:pPr>
            <a:r>
              <a:rPr lang="en-GB" sz="1200">
                <a:solidFill>
                  <a:schemeClr val="dk1"/>
                </a:solidFill>
                <a:latin typeface="Arial"/>
                <a:ea typeface="Arial"/>
                <a:cs typeface="Arial"/>
                <a:sym typeface="Arial"/>
              </a:rPr>
              <a:t>The raw dataset contains missing values, NSA areas, duplicates, and class imbalance making it too large and noisy for manual analysis</a:t>
            </a:r>
            <a:endParaRPr sz="1200">
              <a:solidFill>
                <a:schemeClr val="dk1"/>
              </a:solidFill>
              <a:latin typeface="Arial"/>
              <a:ea typeface="Arial"/>
              <a:cs typeface="Arial"/>
              <a:sym typeface="Arial"/>
            </a:endParaRPr>
          </a:p>
          <a:p>
            <a:pPr marL="0" lvl="0" indent="0" algn="l" rtl="0">
              <a:spcBef>
                <a:spcPts val="1200"/>
              </a:spcBef>
              <a:spcAft>
                <a:spcPts val="0"/>
              </a:spcAft>
              <a:buNone/>
            </a:pPr>
            <a:r>
              <a:rPr lang="en-GB" b="1">
                <a:solidFill>
                  <a:schemeClr val="dk1"/>
                </a:solidFill>
                <a:latin typeface="Arial"/>
                <a:ea typeface="Arial"/>
                <a:cs typeface="Arial"/>
                <a:sym typeface="Arial"/>
              </a:rPr>
              <a:t>Solution:</a:t>
            </a:r>
            <a:endParaRPr sz="1200" b="1">
              <a:solidFill>
                <a:schemeClr val="dk1"/>
              </a:solidFill>
              <a:latin typeface="Arial"/>
              <a:ea typeface="Arial"/>
              <a:cs typeface="Arial"/>
              <a:sym typeface="Arial"/>
            </a:endParaRPr>
          </a:p>
          <a:p>
            <a:pPr marL="0" lvl="0" indent="0" algn="l" rtl="0">
              <a:spcBef>
                <a:spcPts val="0"/>
              </a:spcBef>
              <a:spcAft>
                <a:spcPts val="0"/>
              </a:spcAft>
              <a:buNone/>
            </a:pPr>
            <a:r>
              <a:rPr lang="en-GB" sz="1200">
                <a:solidFill>
                  <a:schemeClr val="dk1"/>
                </a:solidFill>
                <a:latin typeface="Arial"/>
                <a:ea typeface="Arial"/>
                <a:cs typeface="Arial"/>
                <a:sym typeface="Arial"/>
              </a:rPr>
              <a:t>We built a machine learning pipeline which cleans the toronto police major crime indicators data, it prepares for modelling using TIME_OF_DAY, division, premises type, and neighbourhood.</a:t>
            </a:r>
            <a:endParaRPr sz="1200">
              <a:solidFill>
                <a:schemeClr val="dk1"/>
              </a:solidFill>
              <a:latin typeface="Arial"/>
              <a:ea typeface="Arial"/>
              <a:cs typeface="Arial"/>
              <a:sym typeface="Arial"/>
            </a:endParaRPr>
          </a:p>
          <a:p>
            <a:pPr marL="0" lvl="0" indent="0" algn="l" rtl="0">
              <a:spcBef>
                <a:spcPts val="1200"/>
              </a:spcBef>
              <a:spcAft>
                <a:spcPts val="0"/>
              </a:spcAft>
              <a:buNone/>
            </a:pPr>
            <a:r>
              <a:rPr lang="en-GB" sz="1200">
                <a:solidFill>
                  <a:schemeClr val="dk1"/>
                </a:solidFill>
                <a:latin typeface="Arial"/>
                <a:ea typeface="Arial"/>
                <a:cs typeface="Arial"/>
                <a:sym typeface="Arial"/>
              </a:rPr>
              <a:t>After testing multiple algorithms, we selected a Decision Tree classifier that reaches about 67.81% accuracy and an F1-score of 0.67, clearly better than random guessing between five crime categories</a:t>
            </a:r>
            <a:endParaRPr sz="1200">
              <a:solidFill>
                <a:schemeClr val="dk1"/>
              </a:solidFill>
              <a:latin typeface="Arial"/>
              <a:ea typeface="Arial"/>
              <a:cs typeface="Arial"/>
              <a:sym typeface="Arial"/>
            </a:endParaRPr>
          </a:p>
          <a:p>
            <a:pPr marL="0" lvl="0" indent="0" algn="l" rtl="0">
              <a:spcBef>
                <a:spcPts val="1200"/>
              </a:spcBef>
              <a:spcAft>
                <a:spcPts val="1200"/>
              </a:spcAft>
              <a:buNone/>
            </a:pPr>
            <a:r>
              <a:rPr lang="en-GB" sz="1200">
                <a:solidFill>
                  <a:schemeClr val="dk1"/>
                </a:solidFill>
                <a:latin typeface="Arial"/>
                <a:ea typeface="Arial"/>
                <a:cs typeface="Arial"/>
                <a:sym typeface="Arial"/>
              </a:rPr>
              <a:t>The final model is deployed as a RESTful Flask API that takes simple inputs (year, month, day of week, hour, division, premises) and returns a predicted crime category, enabling future apps and dashboards for real-time crime-risk planning</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Arial"/>
                <a:ea typeface="Arial"/>
                <a:cs typeface="Arial"/>
                <a:sym typeface="Arial"/>
              </a:rPr>
              <a:t>CLEANING TABLES</a:t>
            </a:r>
            <a:endParaRPr>
              <a:latin typeface="Arial"/>
              <a:ea typeface="Arial"/>
              <a:cs typeface="Arial"/>
              <a:sym typeface="Arial"/>
            </a:endParaRPr>
          </a:p>
        </p:txBody>
      </p:sp>
      <p:sp>
        <p:nvSpPr>
          <p:cNvPr id="79" name="Google Shape;79;p16"/>
          <p:cNvSpPr txBox="1">
            <a:spLocks noGrp="1"/>
          </p:cNvSpPr>
          <p:nvPr>
            <p:ph type="body" idx="1"/>
          </p:nvPr>
        </p:nvSpPr>
        <p:spPr>
          <a:xfrm>
            <a:off x="311700" y="1017725"/>
            <a:ext cx="8586000" cy="41259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935"/>
              <a:buNone/>
            </a:pPr>
            <a:r>
              <a:rPr lang="en-GB" sz="1130">
                <a:solidFill>
                  <a:schemeClr val="dk1"/>
                </a:solidFill>
                <a:latin typeface="Arial"/>
                <a:ea typeface="Arial"/>
                <a:cs typeface="Arial"/>
                <a:sym typeface="Arial"/>
              </a:rPr>
              <a:t>Missing &amp; Duplicate Values:</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Removed entries with missing data from the OCC (Occurrences) columns to avoid inaccurate or incomplete records.</a:t>
            </a:r>
            <a:endParaRPr sz="1130">
              <a:solidFill>
                <a:schemeClr val="dk1"/>
              </a:solidFill>
              <a:latin typeface="Arial"/>
              <a:ea typeface="Arial"/>
              <a:cs typeface="Arial"/>
              <a:sym typeface="Arial"/>
            </a:endParaRPr>
          </a:p>
          <a:p>
            <a:pPr marL="0" lvl="0" indent="0" algn="l" rtl="0">
              <a:lnSpc>
                <a:spcPct val="115000"/>
              </a:lnSpc>
              <a:spcBef>
                <a:spcPts val="0"/>
              </a:spcBef>
              <a:spcAft>
                <a:spcPts val="0"/>
              </a:spcAft>
              <a:buSzPts val="935"/>
              <a:buNone/>
            </a:pPr>
            <a:endParaRPr sz="600">
              <a:solidFill>
                <a:schemeClr val="dk1"/>
              </a:solidFill>
              <a:latin typeface="Arial"/>
              <a:ea typeface="Arial"/>
              <a:cs typeface="Arial"/>
              <a:sym typeface="Arial"/>
            </a:endParaRPr>
          </a:p>
          <a:p>
            <a:pPr marL="0" lvl="0" indent="0" algn="l" rtl="0">
              <a:lnSpc>
                <a:spcPct val="115000"/>
              </a:lnSpc>
              <a:spcBef>
                <a:spcPts val="0"/>
              </a:spcBef>
              <a:spcAft>
                <a:spcPts val="0"/>
              </a:spcAft>
              <a:buSzPts val="935"/>
              <a:buNone/>
            </a:pPr>
            <a:r>
              <a:rPr lang="en-GB" sz="1130">
                <a:solidFill>
                  <a:schemeClr val="dk1"/>
                </a:solidFill>
                <a:latin typeface="Arial"/>
                <a:ea typeface="Arial"/>
                <a:cs typeface="Arial"/>
                <a:sym typeface="Arial"/>
              </a:rPr>
              <a:t>Removed Non-Relevant Columns:</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HOOD_140 &amp; NEIGHBOURHOOD_140: </a:t>
            </a:r>
            <a:endParaRPr sz="1130">
              <a:solidFill>
                <a:schemeClr val="dk1"/>
              </a:solidFill>
              <a:latin typeface="Arial"/>
              <a:ea typeface="Arial"/>
              <a:cs typeface="Arial"/>
              <a:sym typeface="Arial"/>
            </a:endParaRPr>
          </a:p>
          <a:p>
            <a:pPr marL="914400" lvl="1"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The dataset mentions two types coding system for neighbourhood location label data (_140 and _158). With _140 being the older outdated system code.</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OCC_DOY (Occurrence Day of the Year)</a:t>
            </a:r>
            <a:endParaRPr sz="1130">
              <a:solidFill>
                <a:schemeClr val="dk1"/>
              </a:solidFill>
              <a:latin typeface="Arial"/>
              <a:ea typeface="Arial"/>
              <a:cs typeface="Arial"/>
              <a:sym typeface="Arial"/>
            </a:endParaRPr>
          </a:p>
          <a:p>
            <a:pPr marL="914400" lvl="1"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Redundant information alongside OCC_DOW (Day of the Week) and OCC_DAY.</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REPORT_ * (Dare, Year, Month, Day, DOY, DOW, Hour): </a:t>
            </a:r>
            <a:endParaRPr sz="1130">
              <a:solidFill>
                <a:schemeClr val="dk1"/>
              </a:solidFill>
              <a:latin typeface="Arial"/>
              <a:ea typeface="Arial"/>
              <a:cs typeface="Arial"/>
              <a:sym typeface="Arial"/>
            </a:endParaRPr>
          </a:p>
          <a:p>
            <a:pPr marL="914400" lvl="1"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The report time stamps do not matter when attempting to predict when another major crime is occuring.</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UCR_CODE &amp; UCR_EXT:</a:t>
            </a:r>
            <a:endParaRPr sz="1130">
              <a:solidFill>
                <a:schemeClr val="dk1"/>
              </a:solidFill>
              <a:latin typeface="Arial"/>
              <a:ea typeface="Arial"/>
              <a:cs typeface="Arial"/>
              <a:sym typeface="Arial"/>
            </a:endParaRPr>
          </a:p>
          <a:p>
            <a:pPr marL="914400" lvl="1"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Redundant information, due to having MCI_CATEGORY and OFFENSES for identifying crime type.</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“x” and “y”:</a:t>
            </a:r>
            <a:endParaRPr sz="1130">
              <a:solidFill>
                <a:schemeClr val="dk1"/>
              </a:solidFill>
              <a:latin typeface="Arial"/>
              <a:ea typeface="Arial"/>
              <a:cs typeface="Arial"/>
              <a:sym typeface="Arial"/>
            </a:endParaRPr>
          </a:p>
          <a:p>
            <a:pPr marL="914400" lvl="1"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We do not 100% know what this means. There is not mention of it in the documentation for the data. Therefore no usage.</a:t>
            </a:r>
            <a:endParaRPr sz="1130">
              <a:solidFill>
                <a:schemeClr val="dk1"/>
              </a:solidFill>
              <a:latin typeface="Arial"/>
              <a:ea typeface="Arial"/>
              <a:cs typeface="Arial"/>
              <a:sym typeface="Arial"/>
            </a:endParaRPr>
          </a:p>
          <a:p>
            <a:pPr marL="0" lvl="0" indent="0" algn="l" rtl="0">
              <a:lnSpc>
                <a:spcPct val="115000"/>
              </a:lnSpc>
              <a:spcBef>
                <a:spcPts val="0"/>
              </a:spcBef>
              <a:spcAft>
                <a:spcPts val="0"/>
              </a:spcAft>
              <a:buSzPts val="935"/>
              <a:buNone/>
            </a:pPr>
            <a:endParaRPr sz="600">
              <a:solidFill>
                <a:schemeClr val="dk1"/>
              </a:solidFill>
              <a:latin typeface="Arial"/>
              <a:ea typeface="Arial"/>
              <a:cs typeface="Arial"/>
              <a:sym typeface="Arial"/>
            </a:endParaRPr>
          </a:p>
          <a:p>
            <a:pPr marL="0" lvl="0" indent="0" algn="l" rtl="0">
              <a:lnSpc>
                <a:spcPct val="115000"/>
              </a:lnSpc>
              <a:spcBef>
                <a:spcPts val="0"/>
              </a:spcBef>
              <a:spcAft>
                <a:spcPts val="0"/>
              </a:spcAft>
              <a:buSzPts val="935"/>
              <a:buNone/>
            </a:pPr>
            <a:r>
              <a:rPr lang="en-GB" sz="1130">
                <a:solidFill>
                  <a:schemeClr val="dk1"/>
                </a:solidFill>
                <a:latin typeface="Arial"/>
                <a:ea typeface="Arial"/>
                <a:cs typeface="Arial"/>
                <a:sym typeface="Arial"/>
              </a:rPr>
              <a:t>Not Specific Area</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The Toronto Police Service changed how they recorded their data in 2014. Causing some neighbourhoods to have a coordinate of 0, 0, which are identified as Not Specified Area.</a:t>
            </a:r>
            <a:endParaRPr sz="1130">
              <a:solidFill>
                <a:schemeClr val="dk1"/>
              </a:solidFill>
              <a:latin typeface="Arial"/>
              <a:ea typeface="Arial"/>
              <a:cs typeface="Arial"/>
              <a:sym typeface="Arial"/>
            </a:endParaRPr>
          </a:p>
          <a:p>
            <a:pPr marL="457200" lvl="0" indent="-300355" algn="l" rtl="0">
              <a:lnSpc>
                <a:spcPct val="115000"/>
              </a:lnSpc>
              <a:spcBef>
                <a:spcPts val="0"/>
              </a:spcBef>
              <a:spcAft>
                <a:spcPts val="0"/>
              </a:spcAft>
              <a:buClr>
                <a:schemeClr val="dk1"/>
              </a:buClr>
              <a:buSzPts val="1130"/>
              <a:buFont typeface="Arial"/>
              <a:buChar char="-"/>
            </a:pPr>
            <a:r>
              <a:rPr lang="en-GB" sz="1130">
                <a:solidFill>
                  <a:schemeClr val="dk1"/>
                </a:solidFill>
                <a:latin typeface="Arial"/>
                <a:ea typeface="Arial"/>
                <a:cs typeface="Arial"/>
                <a:sym typeface="Arial"/>
              </a:rPr>
              <a:t>Neighbourhood mention NSA has been dropped due to the fact they are too vague when training data.</a:t>
            </a:r>
            <a:endParaRPr sz="113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CLEANING TABLES - IMAGES</a:t>
            </a:r>
            <a:endParaRPr/>
          </a:p>
        </p:txBody>
      </p:sp>
      <p:pic>
        <p:nvPicPr>
          <p:cNvPr id="85" name="Google Shape;85;p17" descr="A screen shot of a computer&#10;&#10;AI-generated content may be incorrect."/>
          <p:cNvPicPr preferRelativeResize="0"/>
          <p:nvPr/>
        </p:nvPicPr>
        <p:blipFill rotWithShape="1">
          <a:blip r:embed="rId3">
            <a:alphaModFix/>
          </a:blip>
          <a:srcRect l="1706" r="34362"/>
          <a:stretch/>
        </p:blipFill>
        <p:spPr>
          <a:xfrm>
            <a:off x="233199" y="2376375"/>
            <a:ext cx="1961125" cy="2416200"/>
          </a:xfrm>
          <a:prstGeom prst="rect">
            <a:avLst/>
          </a:prstGeom>
          <a:noFill/>
          <a:ln w="38100" cap="flat" cmpd="sng">
            <a:solidFill>
              <a:srgbClr val="000000"/>
            </a:solidFill>
            <a:prstDash val="solid"/>
            <a:round/>
            <a:headEnd type="none" w="sm" len="sm"/>
            <a:tailEnd type="none" w="sm" len="sm"/>
          </a:ln>
        </p:spPr>
      </p:pic>
      <p:pic>
        <p:nvPicPr>
          <p:cNvPr id="86" name="Google Shape;86;p17"/>
          <p:cNvPicPr preferRelativeResize="0"/>
          <p:nvPr/>
        </p:nvPicPr>
        <p:blipFill rotWithShape="1">
          <a:blip r:embed="rId4">
            <a:alphaModFix/>
          </a:blip>
          <a:srcRect t="19916" r="28469"/>
          <a:stretch/>
        </p:blipFill>
        <p:spPr>
          <a:xfrm>
            <a:off x="2435763" y="2376375"/>
            <a:ext cx="3382574" cy="1873775"/>
          </a:xfrm>
          <a:prstGeom prst="rect">
            <a:avLst/>
          </a:prstGeom>
          <a:noFill/>
          <a:ln w="38100" cap="flat" cmpd="sng">
            <a:solidFill>
              <a:srgbClr val="000000"/>
            </a:solidFill>
            <a:prstDash val="solid"/>
            <a:round/>
            <a:headEnd type="none" w="sm" len="sm"/>
            <a:tailEnd type="none" w="sm" len="sm"/>
          </a:ln>
        </p:spPr>
      </p:pic>
      <p:pic>
        <p:nvPicPr>
          <p:cNvPr id="87" name="Google Shape;87;p17"/>
          <p:cNvPicPr preferRelativeResize="0"/>
          <p:nvPr/>
        </p:nvPicPr>
        <p:blipFill rotWithShape="1">
          <a:blip r:embed="rId5">
            <a:alphaModFix/>
          </a:blip>
          <a:srcRect r="1526" b="6191"/>
          <a:stretch/>
        </p:blipFill>
        <p:spPr>
          <a:xfrm>
            <a:off x="233205" y="1150562"/>
            <a:ext cx="3680120" cy="930625"/>
          </a:xfrm>
          <a:prstGeom prst="rect">
            <a:avLst/>
          </a:prstGeom>
          <a:noFill/>
          <a:ln w="38100" cap="flat" cmpd="sng">
            <a:solidFill>
              <a:srgbClr val="000000"/>
            </a:solidFill>
            <a:prstDash val="solid"/>
            <a:round/>
            <a:headEnd type="none" w="sm" len="sm"/>
            <a:tailEnd type="none" w="sm" len="sm"/>
          </a:ln>
        </p:spPr>
      </p:pic>
      <p:pic>
        <p:nvPicPr>
          <p:cNvPr id="88" name="Google Shape;88;p17" descr="A screen shot of a computer code&#10;&#10;AI-generated content may be incorrect."/>
          <p:cNvPicPr preferRelativeResize="0"/>
          <p:nvPr/>
        </p:nvPicPr>
        <p:blipFill>
          <a:blip r:embed="rId6">
            <a:alphaModFix/>
          </a:blip>
          <a:stretch>
            <a:fillRect/>
          </a:stretch>
        </p:blipFill>
        <p:spPr>
          <a:xfrm>
            <a:off x="4106275" y="1150550"/>
            <a:ext cx="4726024" cy="873068"/>
          </a:xfrm>
          <a:prstGeom prst="rect">
            <a:avLst/>
          </a:prstGeom>
          <a:noFill/>
          <a:ln w="38100" cap="flat" cmpd="sng">
            <a:solidFill>
              <a:srgbClr val="00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body" idx="1"/>
          </p:nvPr>
        </p:nvSpPr>
        <p:spPr>
          <a:xfrm>
            <a:off x="311700" y="892728"/>
            <a:ext cx="8732100" cy="4077900"/>
          </a:xfrm>
          <a:prstGeom prst="rect">
            <a:avLst/>
          </a:prstGeom>
        </p:spPr>
        <p:txBody>
          <a:bodyPr spcFirstLastPara="1" wrap="square" lIns="91425" tIns="91425" rIns="91425" bIns="91425" anchor="t" anchorCtr="0">
            <a:normAutofit lnSpcReduction="10000"/>
          </a:bodyPr>
          <a:lstStyle/>
          <a:p>
            <a:pPr marL="0" lvl="0" indent="0" algn="l" rtl="0">
              <a:lnSpc>
                <a:spcPct val="95000"/>
              </a:lnSpc>
              <a:spcBef>
                <a:spcPts val="0"/>
              </a:spcBef>
              <a:spcAft>
                <a:spcPts val="0"/>
              </a:spcAft>
              <a:buNone/>
            </a:pPr>
            <a:r>
              <a:rPr lang="en-GB" sz="1230">
                <a:solidFill>
                  <a:schemeClr val="dk1"/>
                </a:solidFill>
              </a:rPr>
              <a:t>OBJECT_ID &amp; EVENT_UNIQUE_ID</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They have the individual id for each crime record.</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Helps when removing duplicates crimes which are present in the database.</a:t>
            </a:r>
            <a:endParaRPr sz="1230">
              <a:solidFill>
                <a:schemeClr val="dk1"/>
              </a:solidFill>
            </a:endParaRPr>
          </a:p>
          <a:p>
            <a:pPr marL="0" lvl="0" indent="0" algn="l" rtl="0">
              <a:lnSpc>
                <a:spcPct val="95000"/>
              </a:lnSpc>
              <a:spcBef>
                <a:spcPts val="0"/>
              </a:spcBef>
              <a:spcAft>
                <a:spcPts val="0"/>
              </a:spcAft>
              <a:buNone/>
            </a:pPr>
            <a:endParaRPr sz="1230">
              <a:solidFill>
                <a:schemeClr val="dk1"/>
              </a:solidFill>
            </a:endParaRPr>
          </a:p>
          <a:p>
            <a:pPr marL="0" lvl="0" indent="0" algn="l" rtl="0">
              <a:lnSpc>
                <a:spcPct val="95000"/>
              </a:lnSpc>
              <a:spcBef>
                <a:spcPts val="0"/>
              </a:spcBef>
              <a:spcAft>
                <a:spcPts val="0"/>
              </a:spcAft>
              <a:buNone/>
            </a:pPr>
            <a:r>
              <a:rPr lang="en-GB" sz="1230">
                <a:solidFill>
                  <a:schemeClr val="dk1"/>
                </a:solidFill>
              </a:rPr>
              <a:t>OCC_* (DATE, YEAR, DAY, DOW, HOUR):</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Occurrence dates fields help pinpoint when crimes are likely to happen. </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Using the most accurate sources of data in regards when a crime occured.</a:t>
            </a:r>
            <a:endParaRPr sz="1230">
              <a:solidFill>
                <a:schemeClr val="dk1"/>
              </a:solidFill>
            </a:endParaRPr>
          </a:p>
          <a:p>
            <a:pPr marL="0" lvl="0" indent="0" algn="l" rtl="0">
              <a:lnSpc>
                <a:spcPct val="95000"/>
              </a:lnSpc>
              <a:spcBef>
                <a:spcPts val="0"/>
              </a:spcBef>
              <a:spcAft>
                <a:spcPts val="0"/>
              </a:spcAft>
              <a:buNone/>
            </a:pPr>
            <a:endParaRPr sz="1230">
              <a:solidFill>
                <a:schemeClr val="dk1"/>
              </a:solidFill>
            </a:endParaRPr>
          </a:p>
          <a:p>
            <a:pPr marL="0" lvl="0" indent="0" algn="l" rtl="0">
              <a:lnSpc>
                <a:spcPct val="95000"/>
              </a:lnSpc>
              <a:spcBef>
                <a:spcPts val="0"/>
              </a:spcBef>
              <a:spcAft>
                <a:spcPts val="0"/>
              </a:spcAft>
              <a:buNone/>
            </a:pPr>
            <a:r>
              <a:rPr lang="en-GB" sz="1230">
                <a:solidFill>
                  <a:schemeClr val="dk1"/>
                </a:solidFill>
              </a:rPr>
              <a:t>LOCATION_TYPE &amp; PERMISES_TYPE:</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Important because they can describe where a crime took place at (apartment, house, street).</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From the data we can determine that certain crimes can be more common in certain areas.</a:t>
            </a:r>
            <a:endParaRPr sz="1230">
              <a:solidFill>
                <a:schemeClr val="dk1"/>
              </a:solidFill>
            </a:endParaRPr>
          </a:p>
          <a:p>
            <a:pPr marL="0" lvl="0" indent="0" algn="l" rtl="0">
              <a:lnSpc>
                <a:spcPct val="95000"/>
              </a:lnSpc>
              <a:spcBef>
                <a:spcPts val="0"/>
              </a:spcBef>
              <a:spcAft>
                <a:spcPts val="0"/>
              </a:spcAft>
              <a:buNone/>
            </a:pPr>
            <a:endParaRPr sz="1230">
              <a:solidFill>
                <a:schemeClr val="dk1"/>
              </a:solidFill>
            </a:endParaRPr>
          </a:p>
          <a:p>
            <a:pPr marL="0" lvl="0" indent="0" algn="l" rtl="0">
              <a:lnSpc>
                <a:spcPct val="95000"/>
              </a:lnSpc>
              <a:spcBef>
                <a:spcPts val="0"/>
              </a:spcBef>
              <a:spcAft>
                <a:spcPts val="0"/>
              </a:spcAft>
              <a:buNone/>
            </a:pPr>
            <a:r>
              <a:rPr lang="en-GB" sz="1230">
                <a:solidFill>
                  <a:schemeClr val="dk1"/>
                </a:solidFill>
              </a:rPr>
              <a:t>MCI_CATEGORY &amp; OFFENCE:</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These are central to the problem because our objective is to predict the crime category.</a:t>
            </a:r>
            <a:endParaRPr sz="1230">
              <a:solidFill>
                <a:schemeClr val="dk1"/>
              </a:solidFill>
            </a:endParaRPr>
          </a:p>
          <a:p>
            <a:pPr marL="914400" lvl="1" indent="-306705" algn="l" rtl="0">
              <a:lnSpc>
                <a:spcPct val="95000"/>
              </a:lnSpc>
              <a:spcBef>
                <a:spcPts val="0"/>
              </a:spcBef>
              <a:spcAft>
                <a:spcPts val="0"/>
              </a:spcAft>
              <a:buClr>
                <a:schemeClr val="dk1"/>
              </a:buClr>
              <a:buSzPts val="1230"/>
              <a:buChar char="-"/>
            </a:pPr>
            <a:r>
              <a:rPr lang="en-GB" sz="1230">
                <a:solidFill>
                  <a:schemeClr val="dk1"/>
                </a:solidFill>
              </a:rPr>
              <a:t>MCI_CATEGORY: The main category of crime data (assault, grand theft auto, robbery).</a:t>
            </a:r>
            <a:endParaRPr sz="1230">
              <a:solidFill>
                <a:schemeClr val="dk1"/>
              </a:solidFill>
            </a:endParaRPr>
          </a:p>
          <a:p>
            <a:pPr marL="914400" lvl="1" indent="-306705" algn="l" rtl="0">
              <a:lnSpc>
                <a:spcPct val="95000"/>
              </a:lnSpc>
              <a:spcBef>
                <a:spcPts val="0"/>
              </a:spcBef>
              <a:spcAft>
                <a:spcPts val="0"/>
              </a:spcAft>
              <a:buClr>
                <a:schemeClr val="dk1"/>
              </a:buClr>
              <a:buSzPts val="1230"/>
              <a:buChar char="-"/>
            </a:pPr>
            <a:r>
              <a:rPr lang="en-GB" sz="1230">
                <a:solidFill>
                  <a:schemeClr val="dk1"/>
                </a:solidFill>
              </a:rPr>
              <a:t>OFFENCE: Provides more detail description on what type of sub-category the crime induce. (Robbery - Taxi)</a:t>
            </a:r>
            <a:endParaRPr sz="1230">
              <a:solidFill>
                <a:schemeClr val="dk1"/>
              </a:solidFill>
            </a:endParaRPr>
          </a:p>
          <a:p>
            <a:pPr marL="0" lvl="0" indent="0" algn="l" rtl="0">
              <a:lnSpc>
                <a:spcPct val="95000"/>
              </a:lnSpc>
              <a:spcBef>
                <a:spcPts val="0"/>
              </a:spcBef>
              <a:spcAft>
                <a:spcPts val="0"/>
              </a:spcAft>
              <a:buNone/>
            </a:pPr>
            <a:endParaRPr sz="1230">
              <a:solidFill>
                <a:schemeClr val="dk1"/>
              </a:solidFill>
            </a:endParaRPr>
          </a:p>
          <a:p>
            <a:pPr marL="0" lvl="0" indent="0" algn="l" rtl="0">
              <a:lnSpc>
                <a:spcPct val="95000"/>
              </a:lnSpc>
              <a:spcBef>
                <a:spcPts val="0"/>
              </a:spcBef>
              <a:spcAft>
                <a:spcPts val="0"/>
              </a:spcAft>
              <a:buNone/>
            </a:pPr>
            <a:r>
              <a:rPr lang="en-GB" sz="1230">
                <a:solidFill>
                  <a:schemeClr val="dk1"/>
                </a:solidFill>
              </a:rPr>
              <a:t>HOOD_158 &amp; NEIGHBOURHOOD_158:</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Since our model also predicts where a crime is likely to occur, having the neighbourhood data is important to knowing which neighbourhood it is.</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The _158 neighbourhood coding system is the current and accurate version of used by Toronto.</a:t>
            </a:r>
            <a:endParaRPr sz="1230">
              <a:solidFill>
                <a:schemeClr val="dk1"/>
              </a:solidFill>
            </a:endParaRPr>
          </a:p>
          <a:p>
            <a:pPr marL="0" lvl="0" indent="0" algn="l" rtl="0">
              <a:lnSpc>
                <a:spcPct val="95000"/>
              </a:lnSpc>
              <a:spcBef>
                <a:spcPts val="0"/>
              </a:spcBef>
              <a:spcAft>
                <a:spcPts val="0"/>
              </a:spcAft>
              <a:buNone/>
            </a:pPr>
            <a:endParaRPr sz="1230">
              <a:solidFill>
                <a:schemeClr val="dk1"/>
              </a:solidFill>
            </a:endParaRPr>
          </a:p>
          <a:p>
            <a:pPr marL="0" lvl="0" indent="0" algn="l" rtl="0">
              <a:lnSpc>
                <a:spcPct val="95000"/>
              </a:lnSpc>
              <a:spcBef>
                <a:spcPts val="0"/>
              </a:spcBef>
              <a:spcAft>
                <a:spcPts val="0"/>
              </a:spcAft>
              <a:buNone/>
            </a:pPr>
            <a:r>
              <a:rPr lang="en-GB" sz="1230">
                <a:solidFill>
                  <a:schemeClr val="dk1"/>
                </a:solidFill>
              </a:rPr>
              <a:t>LONG_WGS84 &amp; LAT_WGS84:</a:t>
            </a:r>
            <a:endParaRPr sz="1230">
              <a:solidFill>
                <a:schemeClr val="dk1"/>
              </a:solidFill>
            </a:endParaRPr>
          </a:p>
          <a:p>
            <a:pPr marL="457200" lvl="0" indent="-306705" algn="l" rtl="0">
              <a:lnSpc>
                <a:spcPct val="95000"/>
              </a:lnSpc>
              <a:spcBef>
                <a:spcPts val="0"/>
              </a:spcBef>
              <a:spcAft>
                <a:spcPts val="0"/>
              </a:spcAft>
              <a:buClr>
                <a:schemeClr val="dk1"/>
              </a:buClr>
              <a:buSzPts val="1230"/>
              <a:buChar char="-"/>
            </a:pPr>
            <a:r>
              <a:rPr lang="en-GB" sz="1230">
                <a:solidFill>
                  <a:schemeClr val="dk1"/>
                </a:solidFill>
              </a:rPr>
              <a:t>Contains the exact geographic coordinates of where a crime occurred. </a:t>
            </a:r>
            <a:endParaRPr sz="1230">
              <a:solidFill>
                <a:schemeClr val="dk1"/>
              </a:solidFill>
            </a:endParaRPr>
          </a:p>
        </p:txBody>
      </p:sp>
      <p:sp>
        <p:nvSpPr>
          <p:cNvPr id="94" name="Google Shape;94;p18"/>
          <p:cNvSpPr txBox="1">
            <a:spLocks noGrp="1"/>
          </p:cNvSpPr>
          <p:nvPr>
            <p:ph type="title"/>
          </p:nvPr>
        </p:nvSpPr>
        <p:spPr>
          <a:xfrm>
            <a:off x="311700" y="137150"/>
            <a:ext cx="8520600" cy="611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WHY WE KEPT THE REST OF THE COLUMNS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body" idx="1"/>
          </p:nvPr>
        </p:nvSpPr>
        <p:spPr>
          <a:xfrm>
            <a:off x="311700" y="1152475"/>
            <a:ext cx="8349900" cy="1433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GB" sz="1220">
                <a:solidFill>
                  <a:schemeClr val="dk1"/>
                </a:solidFill>
              </a:rPr>
              <a:t>Features:</a:t>
            </a:r>
            <a:endParaRPr sz="1220">
              <a:solidFill>
                <a:schemeClr val="dk1"/>
              </a:solidFill>
            </a:endParaRPr>
          </a:p>
          <a:p>
            <a:pPr marL="457200" lvl="0" indent="-306070" algn="l" rtl="0">
              <a:lnSpc>
                <a:spcPct val="95000"/>
              </a:lnSpc>
              <a:spcBef>
                <a:spcPts val="0"/>
              </a:spcBef>
              <a:spcAft>
                <a:spcPts val="0"/>
              </a:spcAft>
              <a:buClr>
                <a:schemeClr val="dk1"/>
              </a:buClr>
              <a:buSzPts val="1220"/>
              <a:buChar char="-"/>
            </a:pPr>
            <a:r>
              <a:rPr lang="en-GB" sz="1220">
                <a:solidFill>
                  <a:schemeClr val="dk1"/>
                </a:solidFill>
              </a:rPr>
              <a:t>TIME_OF_DAY</a:t>
            </a:r>
            <a:endParaRPr sz="1220">
              <a:solidFill>
                <a:schemeClr val="dk1"/>
              </a:solidFill>
            </a:endParaRPr>
          </a:p>
          <a:p>
            <a:pPr marL="914400" lvl="1" indent="-306069" algn="l" rtl="0">
              <a:lnSpc>
                <a:spcPct val="95000"/>
              </a:lnSpc>
              <a:spcBef>
                <a:spcPts val="0"/>
              </a:spcBef>
              <a:spcAft>
                <a:spcPts val="0"/>
              </a:spcAft>
              <a:buClr>
                <a:schemeClr val="dk1"/>
              </a:buClr>
              <a:buSzPts val="1220"/>
              <a:buChar char="-"/>
            </a:pPr>
            <a:r>
              <a:rPr lang="en-GB" sz="1220">
                <a:solidFill>
                  <a:schemeClr val="dk1"/>
                </a:solidFill>
              </a:rPr>
              <a:t>Dividing hours of a day into four categories depending on the time: morning, afternoon, evening, and night.</a:t>
            </a:r>
            <a:endParaRPr sz="1220">
              <a:solidFill>
                <a:schemeClr val="dk1"/>
              </a:solidFill>
            </a:endParaRPr>
          </a:p>
          <a:p>
            <a:pPr marL="914400" lvl="1" indent="-306069" algn="l" rtl="0">
              <a:lnSpc>
                <a:spcPct val="95000"/>
              </a:lnSpc>
              <a:spcBef>
                <a:spcPts val="0"/>
              </a:spcBef>
              <a:spcAft>
                <a:spcPts val="0"/>
              </a:spcAft>
              <a:buClr>
                <a:schemeClr val="dk1"/>
              </a:buClr>
              <a:buSzPts val="1220"/>
              <a:buChar char="-"/>
            </a:pPr>
            <a:r>
              <a:rPr lang="en-GB" sz="1220">
                <a:solidFill>
                  <a:schemeClr val="dk1"/>
                </a:solidFill>
              </a:rPr>
              <a:t>Divides the time of day into a meaningful predictable segment to help the model learn the patterns in crime with time of day.</a:t>
            </a:r>
            <a:endParaRPr sz="1220">
              <a:solidFill>
                <a:schemeClr val="dk1"/>
              </a:solidFill>
            </a:endParaRPr>
          </a:p>
          <a:p>
            <a:pPr marL="0" lvl="0" indent="0" algn="l" rtl="0">
              <a:lnSpc>
                <a:spcPct val="95000"/>
              </a:lnSpc>
              <a:spcBef>
                <a:spcPts val="0"/>
              </a:spcBef>
              <a:spcAft>
                <a:spcPts val="0"/>
              </a:spcAft>
              <a:buNone/>
            </a:pPr>
            <a:endParaRPr sz="1220">
              <a:solidFill>
                <a:schemeClr val="dk1"/>
              </a:solidFill>
            </a:endParaRPr>
          </a:p>
          <a:p>
            <a:pPr marL="0" lvl="0" indent="0" algn="l" rtl="0">
              <a:lnSpc>
                <a:spcPct val="95000"/>
              </a:lnSpc>
              <a:spcBef>
                <a:spcPts val="0"/>
              </a:spcBef>
              <a:spcAft>
                <a:spcPts val="0"/>
              </a:spcAft>
              <a:buNone/>
            </a:pPr>
            <a:endParaRPr sz="1220">
              <a:solidFill>
                <a:schemeClr val="dk1"/>
              </a:solidFill>
            </a:endParaRPr>
          </a:p>
        </p:txBody>
      </p:sp>
      <p:sp>
        <p:nvSpPr>
          <p:cNvPr id="100" name="Google Shape;100;p19"/>
          <p:cNvSpPr txBox="1">
            <a:spLocks noGrp="1"/>
          </p:cNvSpPr>
          <p:nvPr>
            <p:ph type="title"/>
          </p:nvPr>
        </p:nvSpPr>
        <p:spPr>
          <a:xfrm>
            <a:off x="311700" y="445025"/>
            <a:ext cx="4260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FEATURE ENGINEERING </a:t>
            </a:r>
            <a:endParaRPr/>
          </a:p>
        </p:txBody>
      </p:sp>
      <p:pic>
        <p:nvPicPr>
          <p:cNvPr id="101" name="Google Shape;101;p19"/>
          <p:cNvPicPr preferRelativeResize="0"/>
          <p:nvPr/>
        </p:nvPicPr>
        <p:blipFill>
          <a:blip r:embed="rId3">
            <a:alphaModFix/>
          </a:blip>
          <a:stretch>
            <a:fillRect/>
          </a:stretch>
        </p:blipFill>
        <p:spPr>
          <a:xfrm>
            <a:off x="4482500" y="2193539"/>
            <a:ext cx="4260300" cy="1158236"/>
          </a:xfrm>
          <a:prstGeom prst="rect">
            <a:avLst/>
          </a:prstGeom>
          <a:noFill/>
          <a:ln>
            <a:noFill/>
          </a:ln>
        </p:spPr>
      </p:pic>
      <p:sp>
        <p:nvSpPr>
          <p:cNvPr id="102" name="Google Shape;102;p19"/>
          <p:cNvSpPr txBox="1"/>
          <p:nvPr/>
        </p:nvSpPr>
        <p:spPr>
          <a:xfrm>
            <a:off x="311700" y="2287800"/>
            <a:ext cx="4103700" cy="898200"/>
          </a:xfrm>
          <a:prstGeom prst="rect">
            <a:avLst/>
          </a:prstGeom>
          <a:noFill/>
          <a:ln>
            <a:noFill/>
          </a:ln>
        </p:spPr>
        <p:txBody>
          <a:bodyPr spcFirstLastPara="1" wrap="square" lIns="91425" tIns="91425" rIns="91425" bIns="91425" anchor="t" anchorCtr="0">
            <a:spAutoFit/>
          </a:bodyPr>
          <a:lstStyle/>
          <a:p>
            <a:pPr marL="457200" lvl="0" indent="-306070" algn="l" rtl="0">
              <a:lnSpc>
                <a:spcPct val="95000"/>
              </a:lnSpc>
              <a:spcBef>
                <a:spcPts val="0"/>
              </a:spcBef>
              <a:spcAft>
                <a:spcPts val="0"/>
              </a:spcAft>
              <a:buClr>
                <a:schemeClr val="dk1"/>
              </a:buClr>
              <a:buSzPts val="1220"/>
              <a:buFont typeface="Average"/>
              <a:buChar char="-"/>
            </a:pPr>
            <a:r>
              <a:rPr lang="en-GB" sz="1220">
                <a:solidFill>
                  <a:schemeClr val="dk1"/>
                </a:solidFill>
                <a:latin typeface="Average"/>
                <a:ea typeface="Average"/>
                <a:cs typeface="Average"/>
                <a:sym typeface="Average"/>
              </a:rPr>
              <a:t>One-Hot Encoding</a:t>
            </a:r>
            <a:endParaRPr sz="1220">
              <a:solidFill>
                <a:schemeClr val="dk1"/>
              </a:solidFill>
              <a:latin typeface="Average"/>
              <a:ea typeface="Average"/>
              <a:cs typeface="Average"/>
              <a:sym typeface="Average"/>
            </a:endParaRPr>
          </a:p>
          <a:p>
            <a:pPr marL="914400" lvl="1" indent="-306069" algn="l" rtl="0">
              <a:lnSpc>
                <a:spcPct val="95000"/>
              </a:lnSpc>
              <a:spcBef>
                <a:spcPts val="0"/>
              </a:spcBef>
              <a:spcAft>
                <a:spcPts val="0"/>
              </a:spcAft>
              <a:buClr>
                <a:schemeClr val="dk1"/>
              </a:buClr>
              <a:buSzPts val="1220"/>
              <a:buFont typeface="Average"/>
              <a:buChar char="-"/>
            </a:pPr>
            <a:r>
              <a:rPr lang="en-GB" sz="1220">
                <a:solidFill>
                  <a:schemeClr val="dk1"/>
                </a:solidFill>
                <a:latin typeface="Average"/>
                <a:ea typeface="Average"/>
                <a:cs typeface="Average"/>
                <a:sym typeface="Average"/>
              </a:rPr>
              <a:t>Made categorical features (DIVISION, OCC_DOW, etc.) into numerical format that makes machine learning models understand.</a:t>
            </a:r>
            <a:endParaRPr/>
          </a:p>
        </p:txBody>
      </p:sp>
      <p:pic>
        <p:nvPicPr>
          <p:cNvPr id="103" name="Google Shape;103;p19"/>
          <p:cNvPicPr preferRelativeResize="0"/>
          <p:nvPr/>
        </p:nvPicPr>
        <p:blipFill>
          <a:blip r:embed="rId4">
            <a:alphaModFix/>
          </a:blip>
          <a:stretch>
            <a:fillRect/>
          </a:stretch>
        </p:blipFill>
        <p:spPr>
          <a:xfrm>
            <a:off x="2065776" y="3570626"/>
            <a:ext cx="6677025" cy="847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Visualizing Data </a:t>
            </a:r>
            <a:endParaRPr/>
          </a:p>
        </p:txBody>
      </p:sp>
      <p:pic>
        <p:nvPicPr>
          <p:cNvPr id="109" name="Google Shape;109;p20" descr="A graph showing different colored rectangular shapes&#10;&#10;AI-generated content may be incorrect."/>
          <p:cNvPicPr preferRelativeResize="0"/>
          <p:nvPr/>
        </p:nvPicPr>
        <p:blipFill>
          <a:blip r:embed="rId3">
            <a:alphaModFix/>
          </a:blip>
          <a:stretch>
            <a:fillRect/>
          </a:stretch>
        </p:blipFill>
        <p:spPr>
          <a:xfrm>
            <a:off x="245950" y="1157061"/>
            <a:ext cx="4171598" cy="2469548"/>
          </a:xfrm>
          <a:prstGeom prst="rect">
            <a:avLst/>
          </a:prstGeom>
          <a:noFill/>
          <a:ln w="42575" cap="flat" cmpd="sng">
            <a:solidFill>
              <a:srgbClr val="CCCCCC"/>
            </a:solidFill>
            <a:prstDash val="solid"/>
            <a:round/>
            <a:headEnd type="none" w="sm" len="sm"/>
            <a:tailEnd type="none" w="sm" len="sm"/>
          </a:ln>
        </p:spPr>
      </p:pic>
      <p:pic>
        <p:nvPicPr>
          <p:cNvPr id="110" name="Google Shape;110;p20" descr="A bar graph with different colored squares&#10;&#10;AI-generated content may be incorrect."/>
          <p:cNvPicPr preferRelativeResize="0"/>
          <p:nvPr/>
        </p:nvPicPr>
        <p:blipFill>
          <a:blip r:embed="rId4">
            <a:alphaModFix/>
          </a:blip>
          <a:stretch>
            <a:fillRect/>
          </a:stretch>
        </p:blipFill>
        <p:spPr>
          <a:xfrm>
            <a:off x="4741175" y="1140328"/>
            <a:ext cx="4171599" cy="2503000"/>
          </a:xfrm>
          <a:prstGeom prst="rect">
            <a:avLst/>
          </a:prstGeom>
          <a:noFill/>
          <a:ln w="42575" cap="flat" cmpd="sng">
            <a:solidFill>
              <a:srgbClr val="CCCCCC"/>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body" idx="1"/>
          </p:nvPr>
        </p:nvSpPr>
        <p:spPr>
          <a:xfrm>
            <a:off x="311700" y="1152475"/>
            <a:ext cx="5113200" cy="36648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GB" sz="1220">
                <a:solidFill>
                  <a:schemeClr val="dk1"/>
                </a:solidFill>
              </a:rPr>
              <a:t>Our Process:</a:t>
            </a:r>
            <a:endParaRPr sz="1220">
              <a:solidFill>
                <a:schemeClr val="dk1"/>
              </a:solidFill>
            </a:endParaRPr>
          </a:p>
          <a:p>
            <a:pPr marL="457200" lvl="0" indent="-306070" algn="l" rtl="0">
              <a:lnSpc>
                <a:spcPct val="95000"/>
              </a:lnSpc>
              <a:spcBef>
                <a:spcPts val="0"/>
              </a:spcBef>
              <a:spcAft>
                <a:spcPts val="0"/>
              </a:spcAft>
              <a:buClr>
                <a:schemeClr val="dk1"/>
              </a:buClr>
              <a:buSzPts val="1220"/>
              <a:buChar char="-"/>
            </a:pPr>
            <a:r>
              <a:rPr lang="en-GB" sz="1220">
                <a:solidFill>
                  <a:schemeClr val="dk1"/>
                </a:solidFill>
              </a:rPr>
              <a:t>When initially skimming through the dataset, in the MCI_CATEGORIES section, Assaults took over 53%. With the next section, Break and Enter, having 18% of data around 300k+ records over 10+ years.</a:t>
            </a:r>
            <a:endParaRPr sz="1220">
              <a:solidFill>
                <a:schemeClr val="dk1"/>
              </a:solidFill>
            </a:endParaRPr>
          </a:p>
          <a:p>
            <a:pPr marL="0" lvl="0" indent="0" algn="l" rtl="0">
              <a:lnSpc>
                <a:spcPct val="95000"/>
              </a:lnSpc>
              <a:spcBef>
                <a:spcPts val="0"/>
              </a:spcBef>
              <a:spcAft>
                <a:spcPts val="0"/>
              </a:spcAft>
              <a:buNone/>
            </a:pPr>
            <a:endParaRPr sz="1220">
              <a:solidFill>
                <a:schemeClr val="dk1"/>
              </a:solidFill>
            </a:endParaRPr>
          </a:p>
          <a:p>
            <a:pPr marL="457200" lvl="0" indent="-306070" algn="l" rtl="0">
              <a:lnSpc>
                <a:spcPct val="95000"/>
              </a:lnSpc>
              <a:spcBef>
                <a:spcPts val="0"/>
              </a:spcBef>
              <a:spcAft>
                <a:spcPts val="0"/>
              </a:spcAft>
              <a:buClr>
                <a:schemeClr val="dk1"/>
              </a:buClr>
              <a:buSzPts val="1220"/>
              <a:buChar char="-"/>
            </a:pPr>
            <a:r>
              <a:rPr lang="en-GB" sz="1220">
                <a:solidFill>
                  <a:schemeClr val="dk1"/>
                </a:solidFill>
              </a:rPr>
              <a:t>To balance the date, we used SMOTE to oversample the minority data to avoid data leakage and make more accurate predictions without having a biased towards assault.</a:t>
            </a:r>
            <a:endParaRPr sz="1220">
              <a:solidFill>
                <a:schemeClr val="dk1"/>
              </a:solidFill>
            </a:endParaRPr>
          </a:p>
          <a:p>
            <a:pPr marL="0" lvl="0" indent="0" algn="l" rtl="0">
              <a:lnSpc>
                <a:spcPct val="95000"/>
              </a:lnSpc>
              <a:spcBef>
                <a:spcPts val="0"/>
              </a:spcBef>
              <a:spcAft>
                <a:spcPts val="0"/>
              </a:spcAft>
              <a:buNone/>
            </a:pPr>
            <a:endParaRPr sz="1220">
              <a:solidFill>
                <a:schemeClr val="dk1"/>
              </a:solidFill>
            </a:endParaRPr>
          </a:p>
          <a:p>
            <a:pPr marL="457200" lvl="0" indent="-306070" algn="l" rtl="0">
              <a:lnSpc>
                <a:spcPct val="95000"/>
              </a:lnSpc>
              <a:spcBef>
                <a:spcPts val="0"/>
              </a:spcBef>
              <a:spcAft>
                <a:spcPts val="0"/>
              </a:spcAft>
              <a:buClr>
                <a:schemeClr val="dk1"/>
              </a:buClr>
              <a:buSzPts val="1220"/>
              <a:buChar char="-"/>
            </a:pPr>
            <a:r>
              <a:rPr lang="en-GB" sz="1220">
                <a:solidFill>
                  <a:schemeClr val="dk1"/>
                </a:solidFill>
              </a:rPr>
              <a:t>Then we had to use normalization to scale the OCC_YEAR due to years (2014… 2025) being large numbers compared to the rest of the columns (. OCC_HOUR is 1-24).</a:t>
            </a:r>
            <a:endParaRPr sz="1220">
              <a:solidFill>
                <a:schemeClr val="dk1"/>
              </a:solidFill>
            </a:endParaRPr>
          </a:p>
          <a:p>
            <a:pPr marL="914400" lvl="1" indent="-306069" algn="l" rtl="0">
              <a:lnSpc>
                <a:spcPct val="95000"/>
              </a:lnSpc>
              <a:spcBef>
                <a:spcPts val="0"/>
              </a:spcBef>
              <a:spcAft>
                <a:spcPts val="0"/>
              </a:spcAft>
              <a:buClr>
                <a:schemeClr val="dk1"/>
              </a:buClr>
              <a:buSzPts val="1220"/>
              <a:buChar char="-"/>
            </a:pPr>
            <a:r>
              <a:rPr lang="en-GB" sz="1220">
                <a:solidFill>
                  <a:schemeClr val="dk1"/>
                </a:solidFill>
              </a:rPr>
              <a:t>So we’ll be converting the OCC_YEARS to decimal numbers to keep it in a smaller range for the model.</a:t>
            </a:r>
            <a:endParaRPr sz="1220">
              <a:solidFill>
                <a:schemeClr val="dk1"/>
              </a:solidFill>
            </a:endParaRPr>
          </a:p>
          <a:p>
            <a:pPr marL="0" lvl="0" indent="0" algn="l" rtl="0">
              <a:lnSpc>
                <a:spcPct val="95000"/>
              </a:lnSpc>
              <a:spcBef>
                <a:spcPts val="0"/>
              </a:spcBef>
              <a:spcAft>
                <a:spcPts val="0"/>
              </a:spcAft>
              <a:buNone/>
            </a:pPr>
            <a:endParaRPr sz="1220">
              <a:solidFill>
                <a:schemeClr val="dk1"/>
              </a:solidFill>
            </a:endParaRPr>
          </a:p>
          <a:p>
            <a:pPr marL="457200" lvl="0" indent="-306070" algn="l" rtl="0">
              <a:lnSpc>
                <a:spcPct val="95000"/>
              </a:lnSpc>
              <a:spcBef>
                <a:spcPts val="0"/>
              </a:spcBef>
              <a:spcAft>
                <a:spcPts val="0"/>
              </a:spcAft>
              <a:buClr>
                <a:schemeClr val="dk1"/>
              </a:buClr>
              <a:buSzPts val="1220"/>
              <a:buChar char="-"/>
            </a:pPr>
            <a:r>
              <a:rPr lang="en-GB" sz="1220">
                <a:solidFill>
                  <a:schemeClr val="dk1"/>
                </a:solidFill>
              </a:rPr>
              <a:t>Finally, we Split the Data for 80% for Training &amp; 20% for Testing. Using Stratified Sampling (stratify=Y) to make sure both training and testing sames have the same percentage of each crime type. </a:t>
            </a:r>
            <a:endParaRPr sz="1220">
              <a:solidFill>
                <a:schemeClr val="dk1"/>
              </a:solidFill>
            </a:endParaRPr>
          </a:p>
        </p:txBody>
      </p:sp>
      <p:sp>
        <p:nvSpPr>
          <p:cNvPr id="116" name="Google Shape;11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Average"/>
                <a:ea typeface="Average"/>
                <a:cs typeface="Average"/>
                <a:sym typeface="Average"/>
              </a:rPr>
              <a:t>BALANCING DATA</a:t>
            </a:r>
            <a:endParaRPr>
              <a:latin typeface="Average"/>
              <a:ea typeface="Average"/>
              <a:cs typeface="Average"/>
              <a:sym typeface="Average"/>
            </a:endParaRPr>
          </a:p>
        </p:txBody>
      </p:sp>
      <p:pic>
        <p:nvPicPr>
          <p:cNvPr id="117" name="Google Shape;117;p21" descr="A screen shot of a computer&#10;&#10;AI-generated content may be incorrect."/>
          <p:cNvPicPr preferRelativeResize="0"/>
          <p:nvPr/>
        </p:nvPicPr>
        <p:blipFill>
          <a:blip r:embed="rId3">
            <a:alphaModFix/>
          </a:blip>
          <a:stretch>
            <a:fillRect/>
          </a:stretch>
        </p:blipFill>
        <p:spPr>
          <a:xfrm>
            <a:off x="5716264" y="472239"/>
            <a:ext cx="3143250" cy="1504950"/>
          </a:xfrm>
          <a:prstGeom prst="rect">
            <a:avLst/>
          </a:prstGeom>
          <a:noFill/>
          <a:ln>
            <a:noFill/>
          </a:ln>
        </p:spPr>
      </p:pic>
      <p:pic>
        <p:nvPicPr>
          <p:cNvPr id="118" name="Google Shape;118;p21" descr="A screenshot of a computer&#10;&#10;AI-generated content may be incorrect."/>
          <p:cNvPicPr preferRelativeResize="0"/>
          <p:nvPr/>
        </p:nvPicPr>
        <p:blipFill rotWithShape="1">
          <a:blip r:embed="rId4">
            <a:alphaModFix/>
          </a:blip>
          <a:srcRect t="33132" r="55980"/>
          <a:stretch/>
        </p:blipFill>
        <p:spPr>
          <a:xfrm>
            <a:off x="5813025" y="2213113"/>
            <a:ext cx="3019274" cy="1543515"/>
          </a:xfrm>
          <a:prstGeom prst="rect">
            <a:avLst/>
          </a:prstGeom>
          <a:noFill/>
          <a:ln>
            <a:noFill/>
          </a:ln>
        </p:spPr>
      </p:pic>
      <p:pic>
        <p:nvPicPr>
          <p:cNvPr id="119" name="Google Shape;119;p21" descr="A screenshot of a computer program&#10;&#10;AI-generated content may be incorrect."/>
          <p:cNvPicPr preferRelativeResize="0"/>
          <p:nvPr/>
        </p:nvPicPr>
        <p:blipFill rotWithShape="1">
          <a:blip r:embed="rId5">
            <a:alphaModFix/>
          </a:blip>
          <a:srcRect t="51700" r="47859"/>
          <a:stretch/>
        </p:blipFill>
        <p:spPr>
          <a:xfrm>
            <a:off x="5773175" y="3959275"/>
            <a:ext cx="3098951" cy="929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Confusion Matrix</a:t>
            </a:r>
            <a:endParaRPr/>
          </a:p>
        </p:txBody>
      </p:sp>
      <p:pic>
        <p:nvPicPr>
          <p:cNvPr id="125" name="Google Shape;125;p22" descr="A blue squares with numbers"/>
          <p:cNvPicPr preferRelativeResize="0"/>
          <p:nvPr/>
        </p:nvPicPr>
        <p:blipFill>
          <a:blip r:embed="rId3">
            <a:alphaModFix/>
          </a:blip>
          <a:stretch>
            <a:fillRect/>
          </a:stretch>
        </p:blipFill>
        <p:spPr>
          <a:xfrm>
            <a:off x="311700" y="1627450"/>
            <a:ext cx="4372850" cy="3086100"/>
          </a:xfrm>
          <a:prstGeom prst="rect">
            <a:avLst/>
          </a:prstGeom>
          <a:noFill/>
          <a:ln>
            <a:noFill/>
          </a:ln>
        </p:spPr>
      </p:pic>
      <p:pic>
        <p:nvPicPr>
          <p:cNvPr id="126" name="Google Shape;126;p22"/>
          <p:cNvPicPr preferRelativeResize="0"/>
          <p:nvPr/>
        </p:nvPicPr>
        <p:blipFill>
          <a:blip r:embed="rId4">
            <a:alphaModFix/>
          </a:blip>
          <a:stretch>
            <a:fillRect/>
          </a:stretch>
        </p:blipFill>
        <p:spPr>
          <a:xfrm>
            <a:off x="4974675" y="1627450"/>
            <a:ext cx="4169324" cy="3086100"/>
          </a:xfrm>
          <a:prstGeom prst="rect">
            <a:avLst/>
          </a:prstGeom>
          <a:noFill/>
          <a:ln>
            <a:noFill/>
          </a:ln>
        </p:spPr>
      </p:pic>
      <p:sp>
        <p:nvSpPr>
          <p:cNvPr id="127" name="Google Shape;127;p22"/>
          <p:cNvSpPr txBox="1"/>
          <p:nvPr/>
        </p:nvSpPr>
        <p:spPr>
          <a:xfrm>
            <a:off x="279600" y="1113100"/>
            <a:ext cx="3719100" cy="37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3"/>
                </a:solidFill>
                <a:latin typeface="Average"/>
                <a:ea typeface="Average"/>
                <a:cs typeface="Average"/>
                <a:sym typeface="Average"/>
              </a:rPr>
              <a:t>Balanced Dataset:</a:t>
            </a:r>
            <a:endParaRPr sz="1800">
              <a:solidFill>
                <a:schemeClr val="accent3"/>
              </a:solidFill>
              <a:latin typeface="Average"/>
              <a:ea typeface="Average"/>
              <a:cs typeface="Average"/>
              <a:sym typeface="Average"/>
            </a:endParaRPr>
          </a:p>
        </p:txBody>
      </p:sp>
      <p:sp>
        <p:nvSpPr>
          <p:cNvPr id="128" name="Google Shape;128;p22"/>
          <p:cNvSpPr txBox="1"/>
          <p:nvPr/>
        </p:nvSpPr>
        <p:spPr>
          <a:xfrm>
            <a:off x="5384438" y="1113100"/>
            <a:ext cx="33498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3"/>
                </a:solidFill>
                <a:latin typeface="Average"/>
                <a:ea typeface="Average"/>
                <a:cs typeface="Average"/>
                <a:sym typeface="Average"/>
              </a:rPr>
              <a:t>Original Dataset:</a:t>
            </a:r>
            <a:endParaRPr sz="1800">
              <a:solidFill>
                <a:schemeClr val="accent3"/>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ROC Curve</a:t>
            </a:r>
            <a:endParaRPr/>
          </a:p>
        </p:txBody>
      </p:sp>
      <p:pic>
        <p:nvPicPr>
          <p:cNvPr id="134" name="Google Shape;134;p23" descr="A diagram of a curve&#10;&#10;AI-generated content may be incorrect."/>
          <p:cNvPicPr preferRelativeResize="0"/>
          <p:nvPr/>
        </p:nvPicPr>
        <p:blipFill>
          <a:blip r:embed="rId3">
            <a:alphaModFix/>
          </a:blip>
          <a:stretch>
            <a:fillRect/>
          </a:stretch>
        </p:blipFill>
        <p:spPr>
          <a:xfrm>
            <a:off x="159550" y="1653825"/>
            <a:ext cx="4498625" cy="3243200"/>
          </a:xfrm>
          <a:prstGeom prst="rect">
            <a:avLst/>
          </a:prstGeom>
          <a:noFill/>
          <a:ln>
            <a:noFill/>
          </a:ln>
        </p:spPr>
      </p:pic>
      <p:pic>
        <p:nvPicPr>
          <p:cNvPr id="135" name="Google Shape;135;p23"/>
          <p:cNvPicPr preferRelativeResize="0"/>
          <p:nvPr/>
        </p:nvPicPr>
        <p:blipFill>
          <a:blip r:embed="rId4">
            <a:alphaModFix/>
          </a:blip>
          <a:stretch>
            <a:fillRect/>
          </a:stretch>
        </p:blipFill>
        <p:spPr>
          <a:xfrm>
            <a:off x="4921925" y="1653825"/>
            <a:ext cx="4069674" cy="3243201"/>
          </a:xfrm>
          <a:prstGeom prst="rect">
            <a:avLst/>
          </a:prstGeom>
          <a:noFill/>
          <a:ln>
            <a:noFill/>
          </a:ln>
        </p:spPr>
      </p:pic>
      <p:sp>
        <p:nvSpPr>
          <p:cNvPr id="136" name="Google Shape;136;p23"/>
          <p:cNvSpPr txBox="1"/>
          <p:nvPr/>
        </p:nvSpPr>
        <p:spPr>
          <a:xfrm>
            <a:off x="279600" y="1113100"/>
            <a:ext cx="3719100" cy="37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3"/>
                </a:solidFill>
                <a:latin typeface="Average"/>
                <a:ea typeface="Average"/>
                <a:cs typeface="Average"/>
                <a:sym typeface="Average"/>
              </a:rPr>
              <a:t>Balanced Dataset:</a:t>
            </a:r>
            <a:endParaRPr sz="1800">
              <a:solidFill>
                <a:schemeClr val="accent3"/>
              </a:solidFill>
              <a:latin typeface="Average"/>
              <a:ea typeface="Average"/>
              <a:cs typeface="Average"/>
              <a:sym typeface="Average"/>
            </a:endParaRPr>
          </a:p>
        </p:txBody>
      </p:sp>
      <p:sp>
        <p:nvSpPr>
          <p:cNvPr id="137" name="Google Shape;137;p23"/>
          <p:cNvSpPr txBox="1"/>
          <p:nvPr/>
        </p:nvSpPr>
        <p:spPr>
          <a:xfrm>
            <a:off x="5384438" y="1113100"/>
            <a:ext cx="33498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3"/>
                </a:solidFill>
                <a:latin typeface="Average"/>
                <a:ea typeface="Average"/>
                <a:cs typeface="Average"/>
                <a:sym typeface="Average"/>
              </a:rPr>
              <a:t>Original Dataset:</a:t>
            </a:r>
            <a:endParaRPr sz="1800">
              <a:solidFill>
                <a:schemeClr val="accent3"/>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311700" y="1525500"/>
            <a:ext cx="8520600" cy="209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10000" dirty="0"/>
              <a:t>RUN APP </a:t>
            </a:r>
            <a:endParaRPr sz="10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48" name="Google Shape;148;p25"/>
          <p:cNvSpPr txBox="1">
            <a:spLocks noGrp="1"/>
          </p:cNvSpPr>
          <p:nvPr>
            <p:ph type="body" idx="1"/>
          </p:nvPr>
        </p:nvSpPr>
        <p:spPr>
          <a:xfrm>
            <a:off x="311700" y="1152475"/>
            <a:ext cx="86502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solidFill>
                  <a:schemeClr val="dk1"/>
                </a:solidFill>
              </a:rPr>
              <a:t>In Conclusion….</a:t>
            </a:r>
            <a:br>
              <a:rPr lang="en-GB" sz="1200">
                <a:solidFill>
                  <a:schemeClr val="dk1"/>
                </a:solidFill>
              </a:rPr>
            </a:br>
            <a:br>
              <a:rPr lang="en-GB" sz="1200">
                <a:solidFill>
                  <a:schemeClr val="dk1"/>
                </a:solidFill>
              </a:rPr>
            </a:br>
            <a:r>
              <a:rPr lang="en-GB" sz="1200">
                <a:solidFill>
                  <a:schemeClr val="dk1"/>
                </a:solidFill>
              </a:rPr>
              <a:t>We cleaned and prepared over 388k Toronto major crime records, engineered time, location-based features, and explored multiple models to predict the most likely crime category for a given situation.</a:t>
            </a:r>
            <a:endParaRPr sz="1200">
              <a:solidFill>
                <a:schemeClr val="dk1"/>
              </a:solidFill>
            </a:endParaRPr>
          </a:p>
          <a:p>
            <a:pPr marL="0" lvl="0" indent="0" algn="l" rtl="0">
              <a:spcBef>
                <a:spcPts val="1200"/>
              </a:spcBef>
              <a:spcAft>
                <a:spcPts val="0"/>
              </a:spcAft>
              <a:buNone/>
            </a:pPr>
            <a:r>
              <a:rPr lang="en-GB" sz="1200">
                <a:solidFill>
                  <a:schemeClr val="dk1"/>
                </a:solidFill>
              </a:rPr>
              <a:t>Our best Decision Tree model achieves 67.81% accuracy with an F1-score of 0.67 and is deployed as a Flask REST API that can return crime risk predictions from simple inputs.</a:t>
            </a:r>
            <a:endParaRPr sz="1200">
              <a:solidFill>
                <a:schemeClr val="dk1"/>
              </a:solidFill>
            </a:endParaRPr>
          </a:p>
          <a:p>
            <a:pPr marL="0" lvl="0" indent="0" algn="l" rtl="0">
              <a:spcBef>
                <a:spcPts val="1200"/>
              </a:spcBef>
              <a:spcAft>
                <a:spcPts val="1200"/>
              </a:spcAft>
              <a:buNone/>
            </a:pPr>
            <a:r>
              <a:rPr lang="en-GB" sz="1200">
                <a:solidFill>
                  <a:schemeClr val="dk1"/>
                </a:solidFill>
              </a:rPr>
              <a:t>This pipeline shows how open police data can move from raw CSVs to a working predictive tool, and it can be extended with better balancing, new features, and a front-end dashboard to support real-time planning.</a:t>
            </a:r>
            <a:endParaRPr sz="1200">
              <a:solidFill>
                <a:schemeClr val="dk1"/>
              </a:solidFill>
            </a:endParaRPr>
          </a:p>
        </p:txBody>
      </p:sp>
      <p:pic>
        <p:nvPicPr>
          <p:cNvPr id="149" name="Google Shape;149;p25" descr="A screenshot of a computer screen&#10;&#10;AI-generated content may be incorrect."/>
          <p:cNvPicPr preferRelativeResize="0"/>
          <p:nvPr/>
        </p:nvPicPr>
        <p:blipFill>
          <a:blip r:embed="rId3">
            <a:alphaModFix/>
          </a:blip>
          <a:stretch>
            <a:fillRect/>
          </a:stretch>
        </p:blipFill>
        <p:spPr>
          <a:xfrm>
            <a:off x="5417100" y="3289575"/>
            <a:ext cx="3544850" cy="1707975"/>
          </a:xfrm>
          <a:prstGeom prst="rect">
            <a:avLst/>
          </a:prstGeom>
          <a:noFill/>
          <a:ln>
            <a:noFill/>
          </a:ln>
        </p:spPr>
      </p:pic>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1322</Words>
  <Application>Microsoft Office PowerPoint</Application>
  <PresentationFormat>On-screen Show (16:9)</PresentationFormat>
  <Paragraphs>95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Oswald</vt:lpstr>
      <vt:lpstr>Arial</vt:lpstr>
      <vt:lpstr>Average</vt:lpstr>
      <vt:lpstr>Slate</vt:lpstr>
      <vt:lpstr>Predictive Model for  Major Crimes in Toronto</vt:lpstr>
      <vt:lpstr>WHAT OUR DATA IS</vt:lpstr>
      <vt:lpstr>THE PROBLEM &amp; OUR SOLUTION</vt:lpstr>
      <vt:lpstr>CLEANING TABLES</vt:lpstr>
      <vt:lpstr>CLEANING TABLES - IMAGES</vt:lpstr>
      <vt:lpstr>WHY WE KEPT THE REST OF THE COLUMNS</vt:lpstr>
      <vt:lpstr>FEATURE ENGINEERING </vt:lpstr>
      <vt:lpstr>Visualizing Data </vt:lpstr>
      <vt:lpstr>BALANCING DATA</vt:lpstr>
      <vt:lpstr>Confusion Matrix</vt:lpstr>
      <vt:lpstr>ROC Curve</vt:lpstr>
      <vt:lpstr>RUN APP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abdulrahman hamid</cp:lastModifiedBy>
  <cp:revision>1</cp:revision>
  <dcterms:modified xsi:type="dcterms:W3CDTF">2025-12-11T04:41:24Z</dcterms:modified>
</cp:coreProperties>
</file>